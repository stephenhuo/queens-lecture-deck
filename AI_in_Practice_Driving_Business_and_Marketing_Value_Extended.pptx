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457200"/>
            <a:ext cx="2377440" cy="2377440"/>
          </a:xfrm>
          <a:prstGeom prst="ellipse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1280160"/>
            <a:ext cx="1280160" cy="1280160"/>
          </a:xfrm>
          <a:prstGeom prst="ellipse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83879" y="2286000"/>
            <a:ext cx="914400" cy="914400"/>
          </a:xfrm>
          <a:prstGeom prst="ellipse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132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B8AB"/>
                </a:solidFill>
                <a:latin typeface="Aptos"/>
              </a:rPr>
              <a:t>UNIVERSITY MASTERCLASS  |  MBA • MSc MARKETING • MSc DIGITAL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04672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AI in Practice: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81381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Driving Business and
Marketing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069080"/>
            <a:ext cx="70408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DF5"/>
                </a:solidFill>
                <a:latin typeface="Aptos"/>
              </a:rPr>
              <a:t>From prediction and optimisation to customer strategy, commercial decisions and measurable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5166360"/>
            <a:ext cx="868680" cy="6400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5486400"/>
            <a:ext cx="6858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EDF5"/>
                </a:solidFill>
                <a:latin typeface="Aptos"/>
              </a:rPr>
              <a:t>Practical case studies • Model thinking • Strategic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E7EDF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What you should be able to do by the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035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157276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47088"/>
            <a:ext cx="4956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Frame the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13432"/>
            <a:ext cx="4956048" cy="8412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Translate a business problem into a clear prediction, classification or optimisation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3035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73152" cy="1572768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47088"/>
            <a:ext cx="4956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Interrogate 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13432"/>
            <a:ext cx="4956048" cy="8412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Understand data, features, evaluation metrics and limitations without needing to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3035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73152" cy="1572768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813048"/>
            <a:ext cx="4956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Choose the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279392"/>
            <a:ext cx="4956048" cy="8412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Connect model output to a customer, operational or commercial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57600"/>
            <a:ext cx="53035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657600"/>
            <a:ext cx="73152" cy="1572768"/>
          </a:xfrm>
          <a:prstGeom prst="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813048"/>
            <a:ext cx="4956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Prove the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279392"/>
            <a:ext cx="4956048" cy="8412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Define a credible test and measure incremental business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The journey: from model to market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6184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91056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Business value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600200"/>
            <a:ext cx="6675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Start with decisions and economics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6888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59736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AI essentials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68880"/>
            <a:ext cx="6675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Learning types, workflow and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35584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28416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In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37560"/>
            <a:ext cx="6675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Scheduling, invoices, sensors, insurance and gamebot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0624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4224527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97096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Marketing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206240"/>
            <a:ext cx="6675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Renewal, segmentation and whisky maturation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07492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5093207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65776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074920"/>
            <a:ext cx="6675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Experimentation, governance and value realisation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B8AB"/>
                </a:solidFill>
                <a:latin typeface="Aptos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Opening question: what is the business actually buying?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E7EDF5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241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Not an algorithm. A better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926080"/>
            <a:ext cx="73152" cy="182880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081528"/>
            <a:ext cx="2990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547872"/>
            <a:ext cx="2990088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Which customer may not renew?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9260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926080"/>
            <a:ext cx="73152" cy="182880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3081528"/>
            <a:ext cx="2990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547872"/>
            <a:ext cx="2990088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Who should receive which intervention?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9260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926080"/>
            <a:ext cx="73152" cy="182880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081528"/>
            <a:ext cx="2990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547872"/>
            <a:ext cx="2990088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Did retention and profit improve?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E7EDF5"/>
                </a:solidFill>
                <a:latin typeface="Aptos"/>
              </a:rPr>
              <a:t>Discuss: what could go wrong if we optimise model accuracy but ignore the business decision?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The AI value chain: prediction is only one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240280"/>
            <a:ext cx="73152" cy="196596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95728"/>
            <a:ext cx="1344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BUSINESS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62072"/>
            <a:ext cx="134416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A decision worth improving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3200400"/>
            <a:ext cx="521208" cy="0"/>
          </a:xfrm>
          <a:prstGeom prst="line">
            <a:avLst/>
          </a:prstGeom>
          <a:ln w="2032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224028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240280"/>
            <a:ext cx="73152" cy="196596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2395728"/>
            <a:ext cx="1344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862072"/>
            <a:ext cx="134416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Signals about customers, products or operations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3200400"/>
            <a:ext cx="521208" cy="0"/>
          </a:xfrm>
          <a:prstGeom prst="line">
            <a:avLst/>
          </a:prstGeom>
          <a:ln w="2032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224028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2240280"/>
            <a:ext cx="73152" cy="196596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2395728"/>
            <a:ext cx="1344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2862072"/>
            <a:ext cx="134416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Prediction, classification or optimisation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95160" y="3200400"/>
            <a:ext cx="521208" cy="0"/>
          </a:xfrm>
          <a:prstGeom prst="line">
            <a:avLst/>
          </a:prstGeom>
          <a:ln w="2032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89520" y="224028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2240280"/>
            <a:ext cx="73152" cy="196596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2395728"/>
            <a:ext cx="1344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2862072"/>
            <a:ext cx="134416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A change in offer, plan or resource allocation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0" y="3200400"/>
            <a:ext cx="521208" cy="0"/>
          </a:xfrm>
          <a:prstGeom prst="line">
            <a:avLst/>
          </a:prstGeom>
          <a:ln w="2032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921240" y="224028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21240" y="2240280"/>
            <a:ext cx="73152" cy="1965960"/>
          </a:xfrm>
          <a:prstGeom prst="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2408" y="2395728"/>
            <a:ext cx="1344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2408" y="2862072"/>
            <a:ext cx="134416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Incremental value, measured against a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Value can be lost at every hand-off: poor data, a misframed target, a model nobody uses, or an intervention that does not change behaviour.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A practical map of AI and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324612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3127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9152"/>
            <a:ext cx="3127248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Estimate an unknown or future outcome.
Examples: invoice volumes, renewal probability, maturation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73152" cy="324612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7"/>
            <a:ext cx="3127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59152"/>
            <a:ext cx="3127248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Find structure in data without a labelled answer.
Example: customer segmentation from behaviour and value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73152" cy="324612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892807"/>
            <a:ext cx="3127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Optimise / 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59152"/>
            <a:ext cx="3127248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Choose actions under constraints or learn through feedback.
Examples: dynamic scheduling and reinforcement learning.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6758B"/>
                </a:solidFill>
                <a:latin typeface="Aptos"/>
              </a:rPr>
              <a:t>Generative AI adds a further capability: creating or transforming content, summaries, code and conversational experiences.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Four learning approaches — and the business question each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19456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64208"/>
            <a:ext cx="212140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Supervised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45920"/>
            <a:ext cx="37947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Learn from examples with known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645920"/>
            <a:ext cx="42519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Will this customer renew? What will invoice volume be?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0048"/>
            <a:ext cx="2194560" cy="310896"/>
          </a:xfrm>
          <a:prstGeom prst="round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88336"/>
            <a:ext cx="212140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Unsupervised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70048"/>
            <a:ext cx="37947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Find patterns without a target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670048"/>
            <a:ext cx="42519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Which customers behave in similar ways?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2194560" cy="310896"/>
          </a:xfrm>
          <a:prstGeom prst="round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712463"/>
            <a:ext cx="212140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Semi-supervised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694176"/>
            <a:ext cx="37947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Use a small labelled set with a larger unlabelled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694176"/>
            <a:ext cx="42519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Can limited human labels support broader classification?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18304"/>
            <a:ext cx="2194560" cy="310896"/>
          </a:xfrm>
          <a:prstGeom prst="round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736592"/>
            <a:ext cx="212140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Reinforcement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718304"/>
            <a:ext cx="37947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Learn actions through rewards over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718304"/>
            <a:ext cx="42519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Which sequence of actions improves the objective?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A repeatable machine-learning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8288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325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3258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8B"/>
                </a:solidFill>
                <a:latin typeface="Aptos"/>
              </a:rPr>
              <a:t>Decision + target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029968"/>
            <a:ext cx="301752" cy="0"/>
          </a:xfrm>
          <a:prstGeom prst="line">
            <a:avLst/>
          </a:prstGeom>
          <a:ln w="1778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23744" y="18288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2331720"/>
            <a:ext cx="1325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2788920"/>
            <a:ext cx="13258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8B"/>
                </a:solidFill>
                <a:latin typeface="Aptos"/>
              </a:rPr>
              <a:t>Data quality + 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02152" y="2029968"/>
            <a:ext cx="301752" cy="0"/>
          </a:xfrm>
          <a:prstGeom prst="line">
            <a:avLst/>
          </a:prstGeom>
          <a:ln w="1778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97096" y="18288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2331720"/>
            <a:ext cx="1325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Prepare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2788920"/>
            <a:ext cx="13258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8B"/>
                </a:solidFill>
                <a:latin typeface="Aptos"/>
              </a:rPr>
              <a:t>Clean, derive, encode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75504" y="2029968"/>
            <a:ext cx="301752" cy="0"/>
          </a:xfrm>
          <a:prstGeom prst="line">
            <a:avLst/>
          </a:prstGeom>
          <a:ln w="1778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870448" y="18288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2331720"/>
            <a:ext cx="1325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2788920"/>
            <a:ext cx="13258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8B"/>
                </a:solidFill>
                <a:latin typeface="Aptos"/>
              </a:rPr>
              <a:t>Compare candidates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48856" y="2029968"/>
            <a:ext cx="301752" cy="0"/>
          </a:xfrm>
          <a:prstGeom prst="line">
            <a:avLst/>
          </a:prstGeom>
          <a:ln w="1778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43800" y="18288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5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2331720"/>
            <a:ext cx="1325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2788920"/>
            <a:ext cx="13258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8B"/>
                </a:solidFill>
                <a:latin typeface="Aptos"/>
              </a:rPr>
              <a:t>Holdout + relevant metric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22208" y="2029968"/>
            <a:ext cx="301752" cy="0"/>
          </a:xfrm>
          <a:prstGeom prst="line">
            <a:avLst/>
          </a:prstGeom>
          <a:ln w="1778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217152" y="18288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2331720"/>
            <a:ext cx="1325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788920"/>
            <a:ext cx="13258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8B"/>
                </a:solidFill>
                <a:latin typeface="Aptos"/>
              </a:rPr>
              <a:t>Embed in workflow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95560" y="2029968"/>
            <a:ext cx="301752" cy="0"/>
          </a:xfrm>
          <a:prstGeom prst="line">
            <a:avLst/>
          </a:prstGeom>
          <a:ln w="1778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890504" y="18288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27080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3032" y="2331720"/>
            <a:ext cx="1325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3032" y="2788920"/>
            <a:ext cx="13258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8B"/>
                </a:solidFill>
                <a:latin typeface="Aptos"/>
              </a:rPr>
              <a:t>Drift +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343400"/>
            <a:ext cx="104241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The workflow is iterative: results may send the team back to the target definition, feature design or data collection.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Choose evaluation metrics that match the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661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73152" cy="315468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2186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01C31"/>
                </a:solidFill>
                <a:latin typeface="Aptos"/>
              </a:rP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9152"/>
            <a:ext cx="3218688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Precision / recall
ROC-AUC or PR-AUC
Calibration
Useful for renewal, risk flags and response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661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73152" cy="315468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92807"/>
            <a:ext cx="32186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01C31"/>
                </a:solidFill>
                <a:latin typeface="Aptos"/>
              </a:rPr>
              <a:t>Regression /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9152"/>
            <a:ext cx="3218688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MAE / RMSE
MAPE (with care near zero)
Bias and forecast intervals
Useful for invoice volumes and maturation loss.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73152" cy="315468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2186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01C31"/>
                </a:solidFill>
                <a:latin typeface="Aptos"/>
              </a:rPr>
              <a:t>Optimisation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9152"/>
            <a:ext cx="3218688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Cost / service level
Constraint violations
Decision quality
Useful for schedules, routing and resource allocation.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1498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A metric describes model behaviour; a business KPI describes the outcome the organisation cares about.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The project portfolio: different models, one value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1031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18488"/>
            <a:ext cx="202996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Dynamic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Optimisation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600200"/>
            <a:ext cx="57607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Service efficiency, capacity, customer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50592"/>
            <a:ext cx="2103120" cy="310896"/>
          </a:xfrm>
          <a:prstGeom prst="round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68880"/>
            <a:ext cx="202996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Invoice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50592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Time-series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450592"/>
            <a:ext cx="57607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Planning, workload, finance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00984"/>
            <a:ext cx="2103120" cy="310896"/>
          </a:xfrm>
          <a:prstGeom prst="round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319272"/>
            <a:ext cx="202996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Sensor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300984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Detection +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300984"/>
            <a:ext cx="57607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Proactive service, reliability, resource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51376"/>
            <a:ext cx="2103120" cy="310896"/>
          </a:xfrm>
          <a:prstGeom prst="round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169663"/>
            <a:ext cx="202996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Insurance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151376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Supervised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151376"/>
            <a:ext cx="57607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Quote journeys, targeting, underwriting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01768"/>
            <a:ext cx="21031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020056"/>
            <a:ext cx="202996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Gamebot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5001768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Reinforcement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5001768"/>
            <a:ext cx="57607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Sequential decisions, simulation, adaptive agents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Case 1 | Dynamic scheduling: optimisation in the real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1206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120640" cy="2286000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Assign jobs to field staff as conditions change.</a:t>
            </a:r>
          </a:p>
          <a:p>
            <a:pPr>
              <a:spcAft>
                <a:spcPts val="10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Balance location, travel time, availability and skill.</a:t>
            </a:r>
          </a:p>
          <a:p>
            <a:pPr>
              <a:spcAft>
                <a:spcPts val="10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Respect priority rules and customer commitments.</a:t>
            </a:r>
          </a:p>
          <a:p>
            <a:pPr>
              <a:spcAft>
                <a:spcPts val="10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Use penalties to represent the cost of undesirable assignments.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9377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The decision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57400"/>
            <a:ext cx="4434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57400"/>
            <a:ext cx="73152" cy="6217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212848"/>
            <a:ext cx="40873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679192"/>
            <a:ext cx="4087368" cy="-109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2B3C"/>
                </a:solidFill>
                <a:latin typeface="Aptos"/>
              </a:rPr>
              <a:t>Jobs • skills • locations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2679192"/>
            <a:ext cx="0" cy="137160"/>
          </a:xfrm>
          <a:prstGeom prst="line">
            <a:avLst/>
          </a:prstGeom>
          <a:ln w="1524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843784"/>
            <a:ext cx="4434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843784"/>
            <a:ext cx="73152" cy="621792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999232"/>
            <a:ext cx="40873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465576"/>
            <a:ext cx="4087368" cy="-109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2B3C"/>
                </a:solidFill>
                <a:latin typeface="Aptos"/>
              </a:rPr>
              <a:t>Minimise travel + penalties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0" y="3465576"/>
            <a:ext cx="0" cy="137160"/>
          </a:xfrm>
          <a:prstGeom prst="line">
            <a:avLst/>
          </a:prstGeom>
          <a:ln w="1524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3630168"/>
            <a:ext cx="4434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630168"/>
            <a:ext cx="73152" cy="621792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785615"/>
            <a:ext cx="40873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251959"/>
            <a:ext cx="4087368" cy="-109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2B3C"/>
                </a:solidFill>
                <a:latin typeface="Aptos"/>
              </a:rPr>
              <a:t>Feasible assignments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95360" y="4251959"/>
            <a:ext cx="0" cy="137161"/>
          </a:xfrm>
          <a:prstGeom prst="line">
            <a:avLst/>
          </a:prstGeom>
          <a:ln w="1524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4416552"/>
            <a:ext cx="4434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416552"/>
            <a:ext cx="73152" cy="621792"/>
          </a:xfrm>
          <a:prstGeom prst="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572000"/>
            <a:ext cx="40873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5038344"/>
            <a:ext cx="4087368" cy="-109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2B3C"/>
                </a:solidFill>
                <a:latin typeface="Aptos"/>
              </a:rPr>
              <a:t>Compare plan and outcomes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Marketing link: more reliable service can support customer satisfaction, retention and a stronger service promise — if the operation delivers.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Dynamic scheduling builds on a classic optimisation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4290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329184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Travelling Salesman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3081528" cy="2560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Find a low-cost route that visits each location and returns to the start.
A useful teaching example for combinatorial optimisation.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73152" cy="329184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47088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Real-world 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13432"/>
            <a:ext cx="3081528" cy="2560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More than distance: staff skills, time windows, job duration, priorities and changing demand.
The objective includes trade-offs.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4290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91640"/>
            <a:ext cx="73152" cy="329184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847088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Managerial 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13432"/>
            <a:ext cx="3081528" cy="2560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The 'best' schedule depends on the objective function and constraints chosen.
What gets measured and penalised shapes the solution.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Class prompt: if premium customers receive priority, how should the system balance fairness, cost and service levels?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Case 2 | Invoice forecasting: turning history into a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6634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01C31"/>
                </a:solidFill>
                <a:latin typeface="Aptos"/>
              </a:rPr>
              <a:t>From historical series to forecast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94175"/>
            <a:ext cx="201168" cy="740664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43584" y="3529583"/>
            <a:ext cx="201168" cy="905256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2768" y="3611879"/>
            <a:ext cx="201168" cy="82296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1952" y="3323844"/>
            <a:ext cx="201168" cy="1110996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31136" y="3447287"/>
            <a:ext cx="201168" cy="98755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3159251"/>
            <a:ext cx="201168" cy="127558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9504" y="3282696"/>
            <a:ext cx="201168" cy="1152144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3035807"/>
            <a:ext cx="201168" cy="139903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3200399"/>
            <a:ext cx="201168" cy="123444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2953511"/>
            <a:ext cx="201168" cy="1481328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3076956"/>
            <a:ext cx="201168" cy="1357884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5424" y="2788920"/>
            <a:ext cx="201168" cy="164592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4480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8B"/>
                </a:solidFill>
                <a:latin typeface="Aptos"/>
              </a:rPr>
              <a:t>Illustrative monthly volume pattern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783080"/>
            <a:ext cx="5669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1783080"/>
            <a:ext cx="73152" cy="100584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1938528"/>
            <a:ext cx="5321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2404872"/>
            <a:ext cx="532180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Longer-term direction in invoice volume.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2971800"/>
            <a:ext cx="5669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2971800"/>
            <a:ext cx="73152" cy="100584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3127248"/>
            <a:ext cx="5321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Seasonality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7568" y="3593592"/>
            <a:ext cx="532180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Recurring monthly patterns after trend is considered.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4160520"/>
            <a:ext cx="5669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4160520"/>
            <a:ext cx="73152" cy="100584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87568" y="4315968"/>
            <a:ext cx="5321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Residual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7568" y="4782312"/>
            <a:ext cx="532180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Variation the trend and seasonal components do not explain.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49240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Business value: plan capacity, processing workload and operational readiness. Forecast quality should be evaluated on unseen periods.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Forecast validation: accuracy is not the same as usefulness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474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297180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3127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Baseline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9152"/>
            <a:ext cx="3127248" cy="2240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Compare against a simple benchmark such as last period or seasonal naïve forecast.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74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73152" cy="297180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7"/>
            <a:ext cx="3127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Test honestly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59152"/>
            <a:ext cx="3127248" cy="2240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Use time-ordered validation; do not leak future information into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3474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73152" cy="297180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892807"/>
            <a:ext cx="3127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Measure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59152"/>
            <a:ext cx="3127248" cy="2240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Would the forecast have changed staffing, cost, service or cash-flow decisions?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Teaching note: statistical diagnostics are not a substitute for out-of-sample forecast errors and a decision-focused evaluation.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Case 3 | Sensor machine learning: from monitoring to intervention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73152" cy="182880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20756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79192"/>
            <a:ext cx="2075688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Collect sensor readings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27248" y="2971800"/>
            <a:ext cx="374904" cy="0"/>
          </a:xfrm>
          <a:prstGeom prst="line">
            <a:avLst/>
          </a:prstGeom>
          <a:ln w="2032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205740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057400"/>
            <a:ext cx="73152" cy="182880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212848"/>
            <a:ext cx="20756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79192"/>
            <a:ext cx="2075688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Spot state changes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7608" y="2971800"/>
            <a:ext cx="374904" cy="0"/>
          </a:xfrm>
          <a:prstGeom prst="line">
            <a:avLst/>
          </a:prstGeom>
          <a:ln w="2032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46520" y="205740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057400"/>
            <a:ext cx="73152" cy="182880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212848"/>
            <a:ext cx="20756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679192"/>
            <a:ext cx="2075688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Forecast or detect anomalies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87967" y="2971800"/>
            <a:ext cx="374905" cy="0"/>
          </a:xfrm>
          <a:prstGeom prst="line">
            <a:avLst/>
          </a:prstGeom>
          <a:ln w="2032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26880" y="205740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2057400"/>
            <a:ext cx="73152" cy="1828800"/>
          </a:xfrm>
          <a:prstGeom prst="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2212848"/>
            <a:ext cx="20756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RESOLVE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679192"/>
            <a:ext cx="2075688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Trigger a human or automated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104241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Example signals in the original project included motion, temperature, humidity, power, battery and open/close states.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6758B"/>
                </a:solidFill>
                <a:latin typeface="Aptos"/>
              </a:rPr>
              <a:t>Marketing / customer link: reliability and proactive resolution can improve the experience — but only if alerts are accurate and acted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Case 4 | Insurance prediction: what the original project taught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55448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64208"/>
            <a:ext cx="1481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SOURCE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8463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01C31"/>
                </a:solidFill>
                <a:latin typeface="Aptos"/>
              </a:rPr>
              <a:t>Project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84632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02B3C"/>
                </a:solidFill>
                <a:latin typeface="Aptos"/>
              </a:rPr>
              <a:t>Predict an InsuranceScore from a sample dataset to support a faster, data-informed quote process.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45920"/>
            <a:ext cx="5029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What the source deck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40280"/>
            <a:ext cx="4937760" cy="2286000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02B3C"/>
                </a:solidFill>
                <a:latin typeface="Aptos"/>
              </a:defRPr>
            </a:pPr>
            <a:r>
              <a:t>•  893 records and 19 attributes.</a:t>
            </a:r>
          </a:p>
          <a:p>
            <a:pPr>
              <a:spcAft>
                <a:spcPts val="700"/>
              </a:spcAft>
              <a:defRPr sz="1400">
                <a:solidFill>
                  <a:srgbClr val="202B3C"/>
                </a:solidFill>
                <a:latin typeface="Aptos"/>
              </a:defRPr>
            </a:pPr>
            <a:r>
              <a:t>•  Substantial missingness in several fields.</a:t>
            </a:r>
          </a:p>
          <a:p>
            <a:pPr>
              <a:spcAft>
                <a:spcPts val="700"/>
              </a:spcAft>
              <a:defRPr sz="1400">
                <a:solidFill>
                  <a:srgbClr val="202B3C"/>
                </a:solidFill>
                <a:latin typeface="Aptos"/>
              </a:defRPr>
            </a:pPr>
            <a:r>
              <a:t>•  Random Forest outperformed the other tested regression models.</a:t>
            </a:r>
          </a:p>
          <a:p>
            <a:pPr>
              <a:spcAft>
                <a:spcPts val="700"/>
              </a:spcAft>
              <a:defRPr sz="1400">
                <a:solidFill>
                  <a:srgbClr val="202B3C"/>
                </a:solidFill>
                <a:latin typeface="Aptos"/>
              </a:defRPr>
            </a:pPr>
            <a:r>
              <a:t>•  15 attributes were selected for the reported optimised result.</a:t>
            </a:r>
          </a:p>
          <a:p>
            <a:pPr>
              <a:spcAft>
                <a:spcPts val="700"/>
              </a:spcAft>
              <a:defRPr sz="1400">
                <a:solidFill>
                  <a:srgbClr val="202B3C"/>
                </a:solidFill>
                <a:latin typeface="Aptos"/>
              </a:defRPr>
            </a:pPr>
            <a:r>
              <a:t>•  A 10-attribute quote engine was described as having similar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Strategic implication: a shorter quote journey may reduce friction. Validate fairness, suitability and business outcomes before using scores in live decisions.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MARKETING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New application | Insurance renewal propensity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Predict the risk — then choose the intervention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" cy="201168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8986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1. 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62072"/>
            <a:ext cx="289864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Estimate each policyholder's renewal probability before the renewal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4028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240280"/>
            <a:ext cx="73152" cy="201168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395728"/>
            <a:ext cx="28986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2. Prioritise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862072"/>
            <a:ext cx="289864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Combine renewal risk with customer value, expected margin and contactability.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4028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240280"/>
            <a:ext cx="73152" cy="201168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395728"/>
            <a:ext cx="28986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3. Act + 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862072"/>
            <a:ext cx="289864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Test service outreach, reminders or tailored offers; measure incremental effect.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Avoid the discount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104241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A high-risk customer is not automatically worth a discount. Estimate whether the intervention changes the outcome and whether the retained policy remains profitable.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MARKETING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Renewal strategy: risk × value × treatment effectiveness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6758B"/>
                </a:solidFill>
                <a:latin typeface="Aptos"/>
              </a:rPr>
              <a:t>CUSTOMER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914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B"/>
                </a:solidFill>
                <a:latin typeface="Aptos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914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B"/>
                </a:solidFill>
                <a:latin typeface="Aptos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9496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B"/>
                </a:solidFill>
                <a:latin typeface="Aptos"/>
              </a:rPr>
              <a:t>LOW RENEWAL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39496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B"/>
                </a:solidFill>
                <a:latin typeface="Aptos"/>
              </a:rPr>
              <a:t>HIGH RENEWAL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057400"/>
            <a:ext cx="2514600" cy="1325880"/>
          </a:xfrm>
          <a:prstGeom prst="roundRect">
            <a:avLst/>
          </a:prstGeom>
          <a:solidFill>
            <a:srgbClr val="DAF7F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167128"/>
            <a:ext cx="227685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Protect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532888"/>
            <a:ext cx="2276856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2B3C"/>
                </a:solidFill>
                <a:latin typeface="Aptos"/>
              </a:rPr>
              <a:t>Good service; avoid unnecessary discount.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057400"/>
            <a:ext cx="2514600" cy="1325880"/>
          </a:xfrm>
          <a:prstGeom prst="roundRect">
            <a:avLst/>
          </a:prstGeom>
          <a:solidFill>
            <a:srgbClr val="DBEB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2" y="2167128"/>
            <a:ext cx="227685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Retention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532888"/>
            <a:ext cx="2276856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2B3C"/>
                </a:solidFill>
                <a:latin typeface="Aptos"/>
              </a:rPr>
              <a:t>Test targeted intervention; protect profitable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566160"/>
            <a:ext cx="2514600" cy="1325880"/>
          </a:xfrm>
          <a:prstGeom prst="roundRect">
            <a:avLst/>
          </a:prstGeom>
          <a:solidFill>
            <a:srgbClr val="E7E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1872" y="3675887"/>
            <a:ext cx="227685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Low-cost journey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041648"/>
            <a:ext cx="2276856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2B3C"/>
                </a:solidFill>
                <a:latin typeface="Aptos"/>
              </a:rPr>
              <a:t>Automate reminders; keep contact economical.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3566160"/>
            <a:ext cx="2514600" cy="1325880"/>
          </a:xfrm>
          <a:prstGeom prst="roundRect">
            <a:avLst/>
          </a:prstGeom>
          <a:solidFill>
            <a:srgbClr val="FFEF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3675887"/>
            <a:ext cx="227685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Selective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4041648"/>
            <a:ext cx="2276856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2B3C"/>
                </a:solidFill>
                <a:latin typeface="Aptos"/>
              </a:rPr>
              <a:t>Use low-cost service fixes; discount only if incremental.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828800"/>
            <a:ext cx="4251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1828800"/>
            <a:ext cx="73152" cy="329184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1984248"/>
            <a:ext cx="39044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The extra 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450592"/>
            <a:ext cx="3904488" cy="2560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Will this treatment change renewal behaviour?
Use a controlled experiment to estimate incremental retention and contribution margin, not just the model's propensity score.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MARKETING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New application | Customer segmentation for marketing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5720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From data patterns to usable 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754880" cy="2651760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Build features from behaviour, needs, lifecycle, value and engagement.</a:t>
            </a:r>
          </a:p>
          <a:p>
            <a:pPr>
              <a:spcAft>
                <a:spcPts val="9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Use clustering or a business-led segmentation framework.</a:t>
            </a:r>
          </a:p>
          <a:p>
            <a:pPr>
              <a:spcAft>
                <a:spcPts val="9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Profile segments and give them meaningful, testable names.</a:t>
            </a:r>
          </a:p>
          <a:p>
            <a:pPr>
              <a:spcAft>
                <a:spcPts val="9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Choose different propositions, channels and service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2331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920240"/>
            <a:ext cx="73152" cy="118872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075688"/>
            <a:ext cx="1984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LOYAL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2542032"/>
            <a:ext cx="198424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Retain &amp; reward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920240"/>
            <a:ext cx="2331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1920240"/>
            <a:ext cx="73152" cy="118872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075688"/>
            <a:ext cx="1984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GROWTH 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542032"/>
            <a:ext cx="198424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Cross-sell / educate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429000"/>
            <a:ext cx="2331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429000"/>
            <a:ext cx="73152" cy="118872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584448"/>
            <a:ext cx="1984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PRICE SENSITIVE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4050791"/>
            <a:ext cx="198424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Value message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3429000"/>
            <a:ext cx="2331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0" y="3429000"/>
            <a:ext cx="73152" cy="1188720"/>
          </a:xfrm>
          <a:prstGeom prst="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3584448"/>
            <a:ext cx="1984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C31"/>
                </a:solidFill>
                <a:latin typeface="Aptos"/>
              </a:rPr>
              <a:t>AT-RISK / DISENGAGED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050791"/>
            <a:ext cx="198424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Re-engage selectively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166360"/>
            <a:ext cx="50292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758B"/>
                </a:solidFill>
                <a:latin typeface="Aptos"/>
              </a:rPr>
              <a:t>Illustrative segment labels — validate with actual data and customer research.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MARKETING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A segment only matters if it changes the marketing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73152" cy="219456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67128"/>
            <a:ext cx="1709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WHO?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33472"/>
            <a:ext cx="170992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Segment definition
Observable, stable, reachable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01168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2011680"/>
            <a:ext cx="73152" cy="219456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167128"/>
            <a:ext cx="1709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WHY?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633472"/>
            <a:ext cx="170992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Customer need
Research + behavioural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01168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59" y="2011680"/>
            <a:ext cx="73152" cy="219456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7" y="2167128"/>
            <a:ext cx="1709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WHAT?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7" y="2633472"/>
            <a:ext cx="170992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Value proposition
Relevant benefit, not just a label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01168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2011680"/>
            <a:ext cx="73152" cy="2194560"/>
          </a:xfrm>
          <a:prstGeom prst="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2167128"/>
            <a:ext cx="1709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WHERE?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633472"/>
            <a:ext cx="170992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Channel &amp; timing
Cost-effective contact strategy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201168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2011680"/>
            <a:ext cx="73152" cy="219456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0968" y="2167128"/>
            <a:ext cx="1709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PROVE?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2633472"/>
            <a:ext cx="170992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Experiment
Incremental conversion /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100584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Do not confuse clusters with strategy: a segment must be actionable, economically meaningful and responsibly usable.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MARKETING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New application | Whisky maturation loss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An operational model with portfolio implications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937760" cy="2560320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Predict volume loss during maturation from relevant historical cask and warehouse data.</a:t>
            </a:r>
          </a:p>
          <a:p>
            <a:pPr>
              <a:spcAft>
                <a:spcPts val="9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Forecast future saleable inventory by product, age and release window.</a:t>
            </a:r>
          </a:p>
          <a:p>
            <a:pPr>
              <a:spcAft>
                <a:spcPts val="9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Support production planning and scenario analysis.</a:t>
            </a:r>
          </a:p>
          <a:p>
            <a:pPr>
              <a:spcAft>
                <a:spcPts val="900"/>
              </a:spcAft>
              <a:defRPr sz="1500">
                <a:solidFill>
                  <a:srgbClr val="202B3C"/>
                </a:solidFill>
                <a:latin typeface="Aptos"/>
              </a:defRPr>
            </a:pPr>
            <a:r>
              <a:t>•  Use uncertainty ranges rather than treating each prediction as certain.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82880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73152" cy="105156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984248"/>
            <a:ext cx="47274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450592"/>
            <a:ext cx="4727448" cy="320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Which expressions and age statements can be supported by future stock?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10896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3108960"/>
            <a:ext cx="73152" cy="105156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3264408"/>
            <a:ext cx="47274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3730752"/>
            <a:ext cx="4727448" cy="320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What are the cost, scarcity and margin implications?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3891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389120"/>
            <a:ext cx="73152" cy="105156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4544568"/>
            <a:ext cx="47274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PLACE / PROMOTION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5010912"/>
            <a:ext cx="4727448" cy="320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How should release timing and brand storytelling align with availability?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Marketing connection: better inventory visibility can inform product, price and launch decisions; it does not replace consumer demand insight.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MARKETING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Whisky case | Translate forecast into a commercial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Forecasted available volume  →  portfolio scenarios  →  release and pricing choices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73152" cy="196596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2990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Scenario A | Lower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2"/>
            <a:ext cx="299008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More saleable stock than expected.
Review release phasing and channel allocation.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51460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514600"/>
            <a:ext cx="73152" cy="196596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670048"/>
            <a:ext cx="2990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Scenario B | Expected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136392"/>
            <a:ext cx="299008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Plan against the central forecast.
Align marketing demand and production.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51460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514600"/>
            <a:ext cx="73152" cy="196596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670048"/>
            <a:ext cx="2990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Scenario C | Higher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136392"/>
            <a:ext cx="299008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Potential scarcity or margin pressure.
Review commitments and protect brand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4241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Class prompt: if a premium release is scarce, is a price increase always the best response? Consider brand equity, customer lifetime value, channel relationships and future supply.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Case 5 | AI gamebot: learning through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8463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Reinforcement learning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73152" cy="141732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1984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53512"/>
            <a:ext cx="1984248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Chooses an 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4952" y="3035808"/>
            <a:ext cx="429768" cy="0"/>
          </a:xfrm>
          <a:prstGeom prst="line">
            <a:avLst/>
          </a:prstGeom>
          <a:ln w="1905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66160" y="23317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331720"/>
            <a:ext cx="73152" cy="141732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2487168"/>
            <a:ext cx="1984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953512"/>
            <a:ext cx="1984248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Returns a new 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25312" y="3035808"/>
            <a:ext cx="429767" cy="0"/>
          </a:xfrm>
          <a:prstGeom prst="line">
            <a:avLst/>
          </a:prstGeom>
          <a:ln w="1905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46520" y="23317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331720"/>
            <a:ext cx="73152" cy="141732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1984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953512"/>
            <a:ext cx="1984248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Scores the outcome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05672" y="3035808"/>
            <a:ext cx="429768" cy="0"/>
          </a:xfrm>
          <a:prstGeom prst="line">
            <a:avLst/>
          </a:prstGeom>
          <a:ln w="1905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26880" y="23317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2331720"/>
            <a:ext cx="73152" cy="1417320"/>
          </a:xfrm>
          <a:prstGeom prst="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2487168"/>
            <a:ext cx="19842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Policy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953512"/>
            <a:ext cx="1984248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Improves future choices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The original project used a fighting game environment, with rewards reflecting outcomes such as winning, losing and changes in health.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10241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983480"/>
            <a:ext cx="73152" cy="77724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5138928"/>
            <a:ext cx="9893807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Transferable idea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605272"/>
            <a:ext cx="9893807" cy="457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2B3C"/>
                </a:solidFill>
                <a:latin typeface="Aptos"/>
              </a:rPr>
              <a:t>Define the reward carefully: what the system learns to optimise may differ from what the organisation truly values.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What can business learn from the gamebot?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301752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Sequential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04872"/>
            <a:ext cx="3035808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Some actions have delayed consequences; the best immediate move may not be best overall.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383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73152" cy="301752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3852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Reward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04872"/>
            <a:ext cx="3035808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A narrow reward can create unwanted behaviour. Include constraints and business guardrails.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383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73152" cy="301752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3852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Simulation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04872"/>
            <a:ext cx="3035808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Test safely in a controlled environment before acting on customers, staff or physical systems.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0584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6758B"/>
                </a:solidFill>
                <a:latin typeface="Aptos"/>
              </a:rPr>
              <a:t>Potential applications include simulation, routing, dynamic pricing experiments and resource allocation — each needs domain-specific safeguards.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Across the portfolio: match the model to the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9202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72768"/>
            <a:ext cx="3657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Invoice volume / maturation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72768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Plan capacity, stock and releases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75688"/>
            <a:ext cx="1051560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9202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Predict /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3657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Insurance score / renewal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Prioritise journeys and interventions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88920"/>
            <a:ext cx="1051560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99232"/>
            <a:ext cx="19202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99232"/>
            <a:ext cx="3657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Customer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99232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Adapt proposition and 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02152"/>
            <a:ext cx="1051560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12463"/>
            <a:ext cx="19202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Optimise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712463"/>
            <a:ext cx="3657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Dynamic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12463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Allocate scarce resources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15383"/>
            <a:ext cx="1051560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25696"/>
            <a:ext cx="19202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Learn by 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425696"/>
            <a:ext cx="3657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Gamebot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25696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Improve sequential choices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928616"/>
            <a:ext cx="1051560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38928"/>
            <a:ext cx="19202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Detect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138928"/>
            <a:ext cx="3657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Sensor anomalies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138928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Resolve issues proactively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VALUE REALISATION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Business case: calculate value before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4241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01C31"/>
                </a:solidFill>
                <a:latin typeface="Aptos"/>
              </a:rPr>
              <a:t>Incremental value = outcome with AI-enabled action − outcome under a credible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73152" cy="205740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2"/>
            <a:ext cx="303580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Revenue / retention uplift
Lower waste or service cost
Better capacity utilisation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1460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514600"/>
            <a:ext cx="73152" cy="205740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67004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136392"/>
            <a:ext cx="303580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Data and integration
Model build and monitoring
Operational change + incentives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1460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514600"/>
            <a:ext cx="73152" cy="205740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67004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136392"/>
            <a:ext cx="303580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Holdout / A-B test
Incremental margin
Payback and downside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01C31"/>
                </a:solidFill>
                <a:latin typeface="Aptos"/>
              </a:rPr>
              <a:t>Avoid attributing every improvement to AI: seasonality, pricing changes, selection effects and concurrent campaigns can distort results.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VALUE REALISATION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From model score to causal evidence: run an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288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3896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Primary KPI + guardrails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2075688"/>
            <a:ext cx="640080" cy="0"/>
          </a:xfrm>
          <a:prstGeom prst="line">
            <a:avLst/>
          </a:prstGeom>
          <a:ln w="1905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1828800"/>
            <a:ext cx="502920" cy="310896"/>
          </a:xfrm>
          <a:prstGeom prst="round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60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Randomise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Eligible customers / units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23560" y="2075688"/>
            <a:ext cx="640080" cy="0"/>
          </a:xfrm>
          <a:prstGeom prst="line">
            <a:avLst/>
          </a:prstGeom>
          <a:ln w="1905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86600" y="1828800"/>
            <a:ext cx="502920" cy="310896"/>
          </a:xfrm>
          <a:prstGeom prst="round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Treatment vs control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58200" y="2075688"/>
            <a:ext cx="640080" cy="0"/>
          </a:xfrm>
          <a:prstGeom prst="line">
            <a:avLst/>
          </a:prstGeom>
          <a:ln w="19050">
            <a:solidFill>
              <a:srgbClr val="66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21240" y="1828800"/>
            <a:ext cx="502920" cy="310896"/>
          </a:xfrm>
          <a:prstGeom prst="round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7816" y="18470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23160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926080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Incremental value + uncertainty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1014984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Examples of primary KPIs: incremental renewal margin, conversion, customer retention, cost per resolved issue or forecast-driven cost avoided.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VALUE REALISATION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Responsible AI: commercial performance includes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96596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618488"/>
            <a:ext cx="189280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600200"/>
            <a:ext cx="7955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Missingness, stale data, leakage, unrepresentative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41448"/>
            <a:ext cx="1965960" cy="310896"/>
          </a:xfrm>
          <a:prstGeom prst="round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459736"/>
            <a:ext cx="189280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Fairness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441448"/>
            <a:ext cx="7955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Proxy variables, disparate impact, inappropriate targeting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82696"/>
            <a:ext cx="1965960" cy="310896"/>
          </a:xfrm>
          <a:prstGeom prst="round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300984"/>
            <a:ext cx="189280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282696"/>
            <a:ext cx="7955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Can staff explain the recommendation and challenge 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23944"/>
            <a:ext cx="1965960" cy="310896"/>
          </a:xfrm>
          <a:prstGeom prst="round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142231"/>
            <a:ext cx="189280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Privacy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123944"/>
            <a:ext cx="7955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Purpose limitation, access controls, retention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65192"/>
            <a:ext cx="196596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4983479"/>
            <a:ext cx="189280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Human oversight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965192"/>
            <a:ext cx="7955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2B3C"/>
                </a:solidFill>
                <a:latin typeface="Aptos"/>
              </a:rPr>
              <a:t>Escalation, accountability, safe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6758B"/>
                </a:solidFill>
                <a:latin typeface="Aptos"/>
              </a:rPr>
              <a:t>In insurance and customer marketing, involve legal, compliance, data protection and relevant domain owners before deployment.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Class exercise | You have one week and a limited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01C31"/>
                </a:solidFill>
                <a:latin typeface="Aptos"/>
              </a:rPr>
              <a:t>Choose one use case. Decide what you would build, what you would do with the output, and how you would prove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73152" cy="2148840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44952"/>
            <a:ext cx="30358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Renewal risk is rising, but blanket discounts erode margin.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4231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423160"/>
            <a:ext cx="73152" cy="2148840"/>
          </a:xfrm>
          <a:prstGeom prst="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Customer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044952"/>
            <a:ext cx="30358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Campaign performance is flat and customers receive generic messages.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4231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423160"/>
            <a:ext cx="73152" cy="2148840"/>
          </a:xfrm>
          <a:prstGeom prst="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578608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C31"/>
                </a:solidFill>
                <a:latin typeface="Aptos"/>
              </a:rPr>
              <a:t>Whisky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044952"/>
            <a:ext cx="30358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2B3C"/>
                </a:solidFill>
                <a:latin typeface="Aptos"/>
              </a:rPr>
              <a:t>Future inventory is uncertain; marketing wants to commit to a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202B3C"/>
                </a:solidFill>
                <a:latin typeface="Aptos"/>
              </a:rPr>
              <a:t>Prepare a 60-second recommendation: target outcome • minimum viable data • model approach • action • KPI • key risk.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A one-minute AI business case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7680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What decision will change?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75688"/>
            <a:ext cx="1033272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Prediction /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04872"/>
            <a:ext cx="7680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What must the model estimate or discover?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26079"/>
            <a:ext cx="1033272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55264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Intervention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55264"/>
            <a:ext cx="7680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What will someone do differently?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76472"/>
            <a:ext cx="1033272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05656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Success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105656"/>
            <a:ext cx="7680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Which KPI moves, versus what baseline?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26864"/>
            <a:ext cx="1033272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56048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C31"/>
                </a:solidFill>
                <a:latin typeface="Aptos"/>
              </a:rPr>
              <a:t>Risk / safeguard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956048"/>
            <a:ext cx="76809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58B"/>
                </a:solidFill>
                <a:latin typeface="Aptos"/>
              </a:rPr>
              <a:t>What could go wrong and how will you detect it?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77256"/>
            <a:ext cx="10332720" cy="10972"/>
          </a:xfrm>
          <a:prstGeom prst="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9B70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1C31"/>
                </a:solidFill>
                <a:latin typeface="Aptos"/>
              </a:rPr>
              <a:t>Five takeaways to take back to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685800" cy="50292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58B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B"/>
                </a:solidFill>
                <a:latin typeface="Aptos"/>
              </a:rPr>
              <a:t>AI IN PRACTICE  • 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581912"/>
            <a:ext cx="95097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C31"/>
                </a:solidFill>
                <a:latin typeface="Aptos"/>
              </a:rPr>
              <a:t>Start with a decision and a business outcome, not with an algorithm.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41448"/>
            <a:ext cx="502920" cy="310896"/>
          </a:xfrm>
          <a:prstGeom prst="roundRect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59736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23160"/>
            <a:ext cx="95097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01C31"/>
                </a:solidFill>
                <a:latin typeface="Aptos"/>
              </a:rPr>
              <a:t>Data understanding and target definition are often as important as model choice.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82696"/>
            <a:ext cx="502920" cy="310896"/>
          </a:xfrm>
          <a:prstGeom prst="roundRect">
            <a:avLst/>
          </a:prstGeom>
          <a:solidFill>
            <a:srgbClr val="ED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300984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64408"/>
            <a:ext cx="95097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01C31"/>
                </a:solidFill>
                <a:latin typeface="Aptos"/>
              </a:rPr>
              <a:t>Different problems need different approaches: forecast, score, segment, optimise or learn.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23944"/>
            <a:ext cx="502920" cy="310896"/>
          </a:xfrm>
          <a:prstGeom prst="roundRect">
            <a:avLst/>
          </a:prstGeom>
          <a:solidFill>
            <a:srgbClr val="37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142231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05656"/>
            <a:ext cx="95097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01C31"/>
                </a:solidFill>
                <a:latin typeface="Aptos"/>
              </a:rPr>
              <a:t>A prediction creates value only when it changes an action and the action works.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965192"/>
            <a:ext cx="502920" cy="310896"/>
          </a:xfrm>
          <a:prstGeom prst="round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983479"/>
            <a:ext cx="4297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C31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946904"/>
            <a:ext cx="95097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01C31"/>
                </a:solidFill>
                <a:latin typeface="Aptos"/>
              </a:rPr>
              <a:t>Measure incremental outcomes, monitor risks and keep humans accountable.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6400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B8AB"/>
                </a:solidFill>
                <a:latin typeface="Aptos"/>
              </a:rPr>
              <a:t>AI IN PRACTICE  |  MASTERCLASS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13232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68580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EDF5"/>
                </a:solidFill>
                <a:latin typeface="Aptos"/>
              </a:rPr>
              <a:t>Where could a better prediction or decision create the most value in your organisation?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20640"/>
            <a:ext cx="68580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BB8AB"/>
                </a:solidFill>
                <a:latin typeface="Aptos"/>
              </a:rPr>
              <a:t>Thank you</a:t>
            </a:r>
          </a:p>
        </p:txBody>
      </p:sp>
      <p:sp>
        <p:nvSpPr>
          <p:cNvPr id="6" name="Oval 5"/>
          <p:cNvSpPr/>
          <p:nvPr/>
        </p:nvSpPr>
        <p:spPr>
          <a:xfrm>
            <a:off x="8321040" y="1097280"/>
            <a:ext cx="2468880" cy="2468880"/>
          </a:xfrm>
          <a:prstGeom prst="ellipse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0" y="1920240"/>
            <a:ext cx="1554480" cy="1554480"/>
          </a:xfrm>
          <a:prstGeom prst="ellipse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0" y="3657600"/>
            <a:ext cx="1005840" cy="1005840"/>
          </a:xfrm>
          <a:prstGeom prst="ellipse">
            <a:avLst/>
          </a:prstGeom>
          <a:solidFill>
            <a:srgbClr val="F4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E7EDF5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9144000" cy="2743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100" b="1">
                <a:solidFill>
                  <a:srgbClr val="1BB8AB"/>
                </a:solidFill>
                <a:latin typeface="Aptos"/>
              </a:rPr>
              <a:t>APPENDIX  •  SELECTED ORIGINAL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Original project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700" b="0">
                <a:solidFill>
                  <a:srgbClr val="E7EDF5"/>
                </a:solidFill>
                <a:latin typeface="Aptos"/>
              </a:rPr>
              <a:t>The main lecture tells a connected business-and-marketing story. This appendix preserves selected original slides from your project decks, retaining their original diagrams, charts, terminology and project-specific detail.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822960" cy="6400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17920"/>
            <a:ext cx="914400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000" b="0">
                <a:solidFill>
                  <a:srgbClr val="66758B"/>
                </a:solidFill>
                <a:latin typeface="Aptos"/>
              </a:rPr>
              <a:t>Use these source slides as deeper technical examples or optional discussion material.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9144000" cy="2743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100" b="1">
                <a:solidFill>
                  <a:srgbClr val="1BB8AB"/>
                </a:solidFill>
                <a:latin typeface="Aptos"/>
              </a:rPr>
              <a:t>APPENDIX  •  SELECTED ORIGINAL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Original material | Invoice forecasting &amp; ML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700" b="0">
                <a:solidFill>
                  <a:srgbClr val="E7EDF5"/>
                </a:solidFill>
                <a:latin typeface="Aptos"/>
              </a:rPr>
              <a:t>Source deck: TRG_Presentation_ML.pptx. The following are selected original slides, inserted as full-slide images to preserve their original layout and visual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822960" cy="6400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17920"/>
            <a:ext cx="914400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000" b="0">
                <a:solidFill>
                  <a:srgbClr val="66758B"/>
                </a:solidFill>
                <a:latin typeface="Aptos"/>
              </a:rPr>
              <a:t>Use these source slides as deeper technical examples or optional discussion material.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3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4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5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6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9144000" cy="2743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100" b="1">
                <a:solidFill>
                  <a:srgbClr val="1BB8AB"/>
                </a:solidFill>
                <a:latin typeface="Aptos"/>
              </a:rPr>
              <a:t>APPENDIX  •  SELECTED ORIGINAL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Original material | Insurance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700" b="0">
                <a:solidFill>
                  <a:srgbClr val="E7EDF5"/>
                </a:solidFill>
                <a:latin typeface="Aptos"/>
              </a:rPr>
              <a:t>Source deck: OpenHouse_Insurance_Prediction_Presentation.pptx. The following are selected original slides, inserted as full-slide images to preserve their original layout and visual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822960" cy="6400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17920"/>
            <a:ext cx="914400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000" b="0">
                <a:solidFill>
                  <a:srgbClr val="66758B"/>
                </a:solidFill>
                <a:latin typeface="Aptos"/>
              </a:rPr>
              <a:t>Use these source slides as deeper technical examples or optional discussion material.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7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8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9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0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1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2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3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9144000" cy="2743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100" b="1">
                <a:solidFill>
                  <a:srgbClr val="1BB8AB"/>
                </a:solidFill>
                <a:latin typeface="Aptos"/>
              </a:rPr>
              <a:t>APPENDIX  •  SELECTED ORIGINAL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Original material | Dynamic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700" b="0">
                <a:solidFill>
                  <a:srgbClr val="E7EDF5"/>
                </a:solidFill>
                <a:latin typeface="Aptos"/>
              </a:rPr>
              <a:t>Source deck: Enhance Modelling For Dynamic Scheduling.pptx. The following are selected original slides, inserted as full-slide images to preserve their original layout and visual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822960" cy="6400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17920"/>
            <a:ext cx="914400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000" b="0">
                <a:solidFill>
                  <a:srgbClr val="66758B"/>
                </a:solidFill>
                <a:latin typeface="Aptos"/>
              </a:rPr>
              <a:t>Use these source slides as deeper technical examples or optional discussion material.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5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6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7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8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1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0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21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1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23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2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24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9144000" cy="2743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100" b="1">
                <a:solidFill>
                  <a:srgbClr val="1BB8AB"/>
                </a:solidFill>
                <a:latin typeface="Aptos"/>
              </a:rPr>
              <a:t>APPENDIX  •  SELECTED ORIGINAL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Original material | Sensor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700" b="0">
                <a:solidFill>
                  <a:srgbClr val="E7EDF5"/>
                </a:solidFill>
                <a:latin typeface="Aptos"/>
              </a:rPr>
              <a:t>Source deck: Sensor Machine Learning Project Q1.pptx. The following are selected original slides, inserted as full-slide images to preserve their original layout and visual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822960" cy="6400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17920"/>
            <a:ext cx="914400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000" b="0">
                <a:solidFill>
                  <a:srgbClr val="66758B"/>
                </a:solidFill>
                <a:latin typeface="Aptos"/>
              </a:rPr>
              <a:t>Use these source slides as deeper technical examples or optional discussion material.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3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4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5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6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7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8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9144000" cy="2743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100" b="1">
                <a:solidFill>
                  <a:srgbClr val="1BB8AB"/>
                </a:solidFill>
                <a:latin typeface="Aptos"/>
              </a:rPr>
              <a:t>APPENDIX  •  SELECTED ORIGINAL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Original material | Reinforcement learning gamebot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700" b="0">
                <a:solidFill>
                  <a:srgbClr val="E7EDF5"/>
                </a:solidFill>
                <a:latin typeface="Aptos"/>
              </a:rPr>
              <a:t>Source deck: AI Gamebot Reinforcement Learning.pptx. The following are selected original slides, inserted as full-slide images to preserve their original layout and visual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822960" cy="64008"/>
          </a:xfrm>
          <a:prstGeom prst="rect">
            <a:avLst/>
          </a:prstGeom>
          <a:solidFill>
            <a:srgbClr val="1B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17920"/>
            <a:ext cx="914400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/>
            <a:r>
              <a:rPr sz="1000" b="0">
                <a:solidFill>
                  <a:srgbClr val="66758B"/>
                </a:solidFill>
                <a:latin typeface="Aptos"/>
              </a:rPr>
              <a:t>Use these source slides as deeper technical examples or optional discussion material.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29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30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31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08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32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33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34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38360" y="6473952"/>
            <a:ext cx="2148840" cy="256032"/>
          </a:xfrm>
          <a:prstGeom prst="roundRect">
            <a:avLst/>
          </a:prstGeom>
          <a:solidFill>
            <a:srgbClr val="1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ORIGINAL •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Practice: Driving Business and Marketing Value — Extended Edition</dc:title>
  <dc:subject>MBA / MSc Marketing / MSc Digital Marketing masterclass with selected original project slides</dc:subject>
  <dc:creator>OpenAI, prepared from user-provided project decks</dc:creator>
  <cp:keywords>AI, machine learning, marketing strategy, business value, predictive analytics</cp:keywords>
  <dc:description>Extended with selected original slides from the five user-provided project decks.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